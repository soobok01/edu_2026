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519" r:id="rId2"/>
    <p:sldId id="521" r:id="rId3"/>
    <p:sldId id="522" r:id="rId4"/>
    <p:sldId id="542" r:id="rId5"/>
    <p:sldId id="524" r:id="rId6"/>
    <p:sldId id="525" r:id="rId7"/>
    <p:sldId id="540" r:id="rId8"/>
    <p:sldId id="526" r:id="rId9"/>
    <p:sldId id="545" r:id="rId10"/>
    <p:sldId id="544" r:id="rId11"/>
    <p:sldId id="527" r:id="rId12"/>
    <p:sldId id="530" r:id="rId13"/>
    <p:sldId id="533" r:id="rId14"/>
    <p:sldId id="534" r:id="rId15"/>
    <p:sldId id="543" r:id="rId16"/>
    <p:sldId id="535" r:id="rId17"/>
    <p:sldId id="532" r:id="rId18"/>
    <p:sldId id="536" r:id="rId19"/>
    <p:sldId id="538" r:id="rId20"/>
    <p:sldId id="529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DCCA1"/>
    <a:srgbClr val="C0B3D2"/>
    <a:srgbClr val="CEDFAE"/>
    <a:srgbClr val="FFFFFF"/>
    <a:srgbClr val="D9A2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2C589-8521-4A06-9803-30B2F20027F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A80E6-3C8D-4D13-832D-8E5F741D9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3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46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5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43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36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21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6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7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74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1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3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3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6160C-964D-4A12-8E23-7EF322E3AE59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35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20.png"/><Relationship Id="rId5" Type="http://schemas.openxmlformats.org/officeDocument/2006/relationships/image" Target="../media/image140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82846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RNA-</a:t>
              </a:r>
              <a:r>
                <a:rPr kumimoji="0" lang="en-US" altLang="ko-KR" sz="4800" b="0" i="0" u="none" strike="noStrike" kern="0" cap="none" spc="-30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seq</a:t>
              </a:r>
              <a:r>
                <a:rPr kumimoji="0" lang="en-US" altLang="ko-KR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kumimoji="0" lang="ko-KR" altLang="en-US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데이터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로부터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.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1028" name="Picture 4" descr="생성된 이미지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60" y="2508484"/>
            <a:ext cx="2027238" cy="202723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30" name="Picture 6" descr="생성된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075" y="2977259"/>
            <a:ext cx="765598" cy="10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85" y="1564640"/>
            <a:ext cx="5004687" cy="391492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357058" y="5685170"/>
            <a:ext cx="6507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컴퓨터가 데이터를 통해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스스로 패턴을 학습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</a:p>
          <a:p>
            <a:pPr algn="ctr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새로운 데이터에 대해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예측하거나 분류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알고리즘을 만들 수 있을까</a:t>
            </a:r>
          </a:p>
        </p:txBody>
      </p:sp>
    </p:spTree>
    <p:extLst>
      <p:ext uri="{BB962C8B-B14F-4D97-AF65-F5344CB8AC3E}">
        <p14:creationId xmlns:p14="http://schemas.microsoft.com/office/powerpoint/2010/main" val="331586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981730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Supervised vs Unsupervised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386360" y="1263134"/>
            <a:ext cx="4252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Supervised Learning (</a:t>
            </a:r>
            <a:r>
              <a:rPr lang="ko-KR" altLang="en-US" sz="2400" b="1" dirty="0" err="1"/>
              <a:t>지도학습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386360" y="1925668"/>
            <a:ext cx="801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와 레이블 </a:t>
            </a:r>
            <a:r>
              <a:rPr lang="en-US" altLang="ko-KR" dirty="0"/>
              <a:t>Y(</a:t>
            </a:r>
            <a:r>
              <a:rPr lang="ko-KR" altLang="en-US" dirty="0"/>
              <a:t>정답</a:t>
            </a:r>
            <a:r>
              <a:rPr lang="en-US" altLang="ko-KR" dirty="0"/>
              <a:t>)</a:t>
            </a:r>
            <a:r>
              <a:rPr lang="ko-KR" altLang="en-US" dirty="0"/>
              <a:t>가 쌍</a:t>
            </a:r>
            <a:r>
              <a:rPr lang="en-US" altLang="ko-KR" dirty="0"/>
              <a:t>(pair)</a:t>
            </a:r>
            <a:r>
              <a:rPr lang="ko-KR" altLang="en-US" dirty="0"/>
              <a:t>으로 주어질 때</a:t>
            </a:r>
            <a:r>
              <a:rPr lang="en-US" altLang="ko-KR" dirty="0"/>
              <a:t>, </a:t>
            </a:r>
            <a:r>
              <a:rPr lang="ko-KR" altLang="en-US" dirty="0"/>
              <a:t>학습을 통해 새로운 입력에 대한 </a:t>
            </a:r>
            <a:r>
              <a:rPr lang="en-US" altLang="ko-KR" b="1" dirty="0"/>
              <a:t>NEW Y</a:t>
            </a:r>
            <a:r>
              <a:rPr lang="en-US" altLang="ko-KR" dirty="0"/>
              <a:t>(</a:t>
            </a:r>
            <a:r>
              <a:rPr lang="ko-KR" altLang="en-US" dirty="0" err="1"/>
              <a:t>예측값</a:t>
            </a:r>
            <a:r>
              <a:rPr lang="en-US" altLang="ko-KR" dirty="0"/>
              <a:t>)</a:t>
            </a:r>
            <a:r>
              <a:rPr lang="ko-KR" altLang="en-US" dirty="0"/>
              <a:t>를 생성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43" y="2651438"/>
            <a:ext cx="6742510" cy="36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4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5580" t="22260" r="68301" b="29883"/>
          <a:stretch/>
        </p:blipFill>
        <p:spPr>
          <a:xfrm>
            <a:off x="4795052" y="4287494"/>
            <a:ext cx="1764925" cy="166575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981730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Supervised vs Unsupervised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386360" y="1263134"/>
            <a:ext cx="4903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Unsupervised Learning (</a:t>
            </a:r>
            <a:r>
              <a:rPr lang="ko-KR" altLang="en-US" sz="2400" b="1" dirty="0" err="1"/>
              <a:t>비지도학습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386360" y="1925668"/>
            <a:ext cx="801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레이블 없이 순수 입력 데이터만 있을 때</a:t>
            </a:r>
            <a:r>
              <a:rPr lang="en-US" altLang="ko-KR" dirty="0"/>
              <a:t>, </a:t>
            </a:r>
            <a:r>
              <a:rPr lang="ko-KR" altLang="en-US" dirty="0"/>
              <a:t>데이터 구조나 패턴</a:t>
            </a:r>
            <a:r>
              <a:rPr lang="en-US" altLang="ko-KR" dirty="0"/>
              <a:t>(</a:t>
            </a:r>
            <a:r>
              <a:rPr lang="ko-KR" altLang="en-US" dirty="0"/>
              <a:t>잠재 요인</a:t>
            </a:r>
            <a:r>
              <a:rPr lang="en-US" altLang="ko-KR" dirty="0"/>
              <a:t>)</a:t>
            </a:r>
            <a:r>
              <a:rPr lang="ko-KR" altLang="en-US" dirty="0"/>
              <a:t>을 찾아내는 기법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45573"/>
          <a:stretch/>
        </p:blipFill>
        <p:spPr>
          <a:xfrm>
            <a:off x="1080043" y="2707318"/>
            <a:ext cx="3669757" cy="362236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5580" t="22260" r="68301" b="29883"/>
          <a:stretch/>
        </p:blipFill>
        <p:spPr>
          <a:xfrm>
            <a:off x="4798910" y="2707317"/>
            <a:ext cx="1761067" cy="1523471"/>
          </a:xfrm>
          <a:prstGeom prst="rect">
            <a:avLst/>
          </a:prstGeom>
        </p:spPr>
      </p:pic>
      <p:pic>
        <p:nvPicPr>
          <p:cNvPr id="4098" name="Picture 2" descr="생성된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544" y="2764023"/>
            <a:ext cx="1427798" cy="142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생성된 이미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65" y="4366106"/>
            <a:ext cx="1521550" cy="152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90199" y="5648445"/>
            <a:ext cx="42511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PC1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4771148" y="4901877"/>
            <a:ext cx="42511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PC2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342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FF7A21BD-3818-03A1-3843-B1F6FE4B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3" y="1177838"/>
            <a:ext cx="8403473" cy="51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7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473837" y="2425387"/>
            <a:ext cx="2605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K-means clustering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442971" y="1426471"/>
            <a:ext cx="801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Clustering: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레이블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정답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없이 데이터 자체의 유사성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거리나 밀도 등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기반으로 샘플들을 “그룹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클러스터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)”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묶는 비지도 학습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73837" y="2887052"/>
            <a:ext cx="7980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사전에 군집 개수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지정하고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“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클러스터 중심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(centroid)”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과 샘플 간 거리를 최소화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!!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932966" y="3930074"/>
            <a:ext cx="92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Goal :</a:t>
            </a:r>
            <a:endParaRPr lang="ko-KR" altLang="en-US" sz="24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821" y="3668559"/>
            <a:ext cx="5213954" cy="9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3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2" name="Image 0">
            <a:extLst>
              <a:ext uri="{FF2B5EF4-FFF2-40B4-BE49-F238E27FC236}">
                <a16:creationId xmlns:a16="http://schemas.microsoft.com/office/drawing/2014/main" id="{A972E01C-7385-1569-87C2-81ADB6EF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" y="1797132"/>
            <a:ext cx="4455623" cy="3657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C15F00-FC5A-3E8D-53E0-88F00CC49F60}"/>
              </a:ext>
            </a:extLst>
          </p:cNvPr>
          <p:cNvSpPr txBox="1"/>
          <p:nvPr/>
        </p:nvSpPr>
        <p:spPr>
          <a:xfrm>
            <a:off x="4407724" y="1942570"/>
            <a:ext cx="4572000" cy="315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altLang="ko-KR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centroid (</a:t>
            </a:r>
            <a:r>
              <a:rPr lang="en-US" altLang="ko-KR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중심점</a:t>
            </a:r>
            <a:r>
              <a:rPr lang="en-US" altLang="ko-KR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0" indent="0">
              <a:lnSpc>
                <a:spcPts val="1900"/>
              </a:lnSpc>
              <a:spcAft>
                <a:spcPts val="1400"/>
              </a:spcAft>
              <a:buNone/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각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cluster를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대표하는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가운데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점(X).</a:t>
            </a:r>
          </a:p>
          <a:p>
            <a:pPr marL="0" indent="0">
              <a:lnSpc>
                <a:spcPts val="1900"/>
              </a:lnSpc>
              <a:spcAft>
                <a:spcPts val="800"/>
              </a:spcAft>
              <a:buNone/>
            </a:pP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altLang="ko-KR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배정</a:t>
            </a:r>
            <a:r>
              <a:rPr lang="en-US" altLang="ko-KR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규칙</a:t>
            </a:r>
            <a:endParaRPr lang="en-US" altLang="ko-KR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ts val="1900"/>
              </a:lnSpc>
              <a:spcAft>
                <a:spcPts val="1400"/>
              </a:spcAft>
              <a:buNone/>
            </a:pP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모든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점을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'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가장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가까운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centroid'의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군으로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배정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  <a:p>
            <a:pPr marL="0" indent="0">
              <a:lnSpc>
                <a:spcPts val="1900"/>
              </a:lnSpc>
              <a:spcAft>
                <a:spcPts val="800"/>
              </a:spcAft>
              <a:buNone/>
            </a:pP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altLang="ko-KR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무엇을</a:t>
            </a:r>
            <a:r>
              <a:rPr lang="en-US" altLang="ko-KR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최소화하나</a:t>
            </a:r>
            <a:endParaRPr lang="en-US" altLang="ko-KR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각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점과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centroid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사이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거리의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제곱합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(WCSS).</a:t>
            </a:r>
          </a:p>
        </p:txBody>
      </p:sp>
    </p:spTree>
    <p:extLst>
      <p:ext uri="{BB962C8B-B14F-4D97-AF65-F5344CB8AC3E}">
        <p14:creationId xmlns:p14="http://schemas.microsoft.com/office/powerpoint/2010/main" val="216398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3" name="Image 0">
            <a:extLst>
              <a:ext uri="{FF2B5EF4-FFF2-40B4-BE49-F238E27FC236}">
                <a16:creationId xmlns:a16="http://schemas.microsoft.com/office/drawing/2014/main" id="{B28A1236-C3A1-0DEF-846F-91408824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9" y="2235134"/>
            <a:ext cx="8449887" cy="21983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7CA0379-4F6F-81A6-DC14-1F179B58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37" y="4823341"/>
            <a:ext cx="8225249" cy="81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6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473837" y="2425387"/>
            <a:ext cx="5792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Non-negative matrix factorization clustering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442971" y="1426471"/>
            <a:ext cx="801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Clustering: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레이블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정답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없이 데이터 자체의 유사성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거리나 밀도 등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기반으로 샘플들을 “그룹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클러스터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)”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묶는 비지도 학습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73836" y="2887052"/>
            <a:ext cx="8273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NMF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자체는 ‘군집화 </a:t>
            </a:r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알고리즘’이라기보다는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비음수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행렬 분해 기법이지만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 결과로 얻어지는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Basis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W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과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Coefficient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를 활용하여 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또는 유전자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</a:t>
            </a:r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클러스터링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90526" y="4272047"/>
            <a:ext cx="92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Goal :</a:t>
            </a:r>
            <a:endParaRPr lang="ko-KR" altLang="en-US" sz="2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23" y="4132138"/>
            <a:ext cx="1866270" cy="6471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334" y="4041469"/>
            <a:ext cx="4367572" cy="108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60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6039F91C-8420-B929-DD8A-1FF907C5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0" y="1795129"/>
            <a:ext cx="7633702" cy="454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5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E7F5F604-3902-F7DB-DF18-D8991CA88259}"/>
              </a:ext>
            </a:extLst>
          </p:cNvPr>
          <p:cNvSpPr/>
          <p:nvPr/>
        </p:nvSpPr>
        <p:spPr>
          <a:xfrm>
            <a:off x="1014152" y="2280894"/>
            <a:ext cx="6941338" cy="3503221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2384A">
                <a:alpha val="16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C69D72-5C35-B731-9F1D-A1ED548B5ECB}"/>
              </a:ext>
            </a:extLst>
          </p:cNvPr>
          <p:cNvSpPr/>
          <p:nvPr/>
        </p:nvSpPr>
        <p:spPr>
          <a:xfrm>
            <a:off x="1334192" y="2509494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3CC8A8"/>
                </a:solidFill>
                <a:ea typeface="Courier New" pitchFamily="34" charset="-122"/>
                <a:cs typeface="Courier New" pitchFamily="34" charset="-120"/>
              </a:rPr>
              <a:t>Euclidean  </a:t>
            </a:r>
            <a:endParaRPr lang="en-US" sz="3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H ← H .* (Wᵀ V) ./ (Wᵀ W H)</a:t>
            </a:r>
            <a:endParaRPr lang="en-US" sz="2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W ← W .* (V Hᵀ) ./ (W H Hᵀ)</a:t>
            </a:r>
            <a:endParaRPr lang="en-US" sz="2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3CC8A8"/>
                </a:solidFill>
                <a:ea typeface="Courier New" pitchFamily="34" charset="-122"/>
                <a:cs typeface="Courier New" pitchFamily="34" charset="-120"/>
              </a:rPr>
              <a:t>KL divergence  </a:t>
            </a:r>
            <a:endParaRPr lang="en-US" sz="2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H ← H .* (Wᵀ (V./WH)) ./ Σ W</a:t>
            </a:r>
            <a:endParaRPr lang="en-US" sz="2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W ← W .* ((V./WH) Hᵀ) ./ Σ H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69FF10-C0F6-886F-FCE9-897B3D847108}"/>
              </a:ext>
            </a:extLst>
          </p:cNvPr>
          <p:cNvSpPr txBox="1"/>
          <p:nvPr/>
        </p:nvSpPr>
        <p:spPr>
          <a:xfrm>
            <a:off x="2324798" y="131816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altLang="ko-KR" sz="36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min  ||V − W·H||_F²</a:t>
            </a: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874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19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27" y="2429070"/>
            <a:ext cx="7886700" cy="416302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473837" y="1126453"/>
            <a:ext cx="801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X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 데이터 매트릭스를 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유전자를 나타내는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X (N)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매트릭스와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(N)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X 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매트릭스로 행렬 분해할 수 있다면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79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7" y="1884531"/>
            <a:ext cx="6917979" cy="2123193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행렬의 인수분해가 의미하는 것은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35636" y="4371896"/>
                <a:ext cx="3121239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36" y="4371896"/>
                <a:ext cx="3121239" cy="381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1082593" y="3016522"/>
                <a:ext cx="50565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93" y="3016522"/>
                <a:ext cx="505651" cy="2852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1431843" y="3016522"/>
                <a:ext cx="50565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843" y="3016522"/>
                <a:ext cx="505651" cy="2852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/>
              <p:cNvSpPr/>
              <p:nvPr/>
            </p:nvSpPr>
            <p:spPr>
              <a:xfrm>
                <a:off x="3817855" y="2686322"/>
                <a:ext cx="48340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1" name="직사각형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5" y="2686322"/>
                <a:ext cx="483401" cy="2852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/>
              <p:cNvSpPr/>
              <p:nvPr/>
            </p:nvSpPr>
            <p:spPr>
              <a:xfrm>
                <a:off x="3817855" y="3008584"/>
                <a:ext cx="48340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2" name="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55" y="3008584"/>
                <a:ext cx="483401" cy="2852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6614502" y="3048528"/>
                <a:ext cx="455959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502" y="3048528"/>
                <a:ext cx="455959" cy="2852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35635" y="4841796"/>
                <a:ext cx="3121239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35" y="4841796"/>
                <a:ext cx="3121239" cy="3815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/>
              <p:cNvSpPr/>
              <p:nvPr/>
            </p:nvSpPr>
            <p:spPr>
              <a:xfrm>
                <a:off x="1082593" y="3393626"/>
                <a:ext cx="50565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93" y="3393626"/>
                <a:ext cx="505651" cy="2852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1431843" y="3393626"/>
                <a:ext cx="50565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843" y="3393626"/>
                <a:ext cx="505651" cy="2852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6614501" y="3393626"/>
                <a:ext cx="455959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501" y="3393626"/>
                <a:ext cx="455959" cy="2852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13429" y="5337228"/>
                <a:ext cx="6024150" cy="1212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/>
                  <a:t>다섯번째 샘플과 </a:t>
                </a:r>
                <a:r>
                  <a:rPr lang="ko-KR" altLang="en-US" b="1" dirty="0" err="1"/>
                  <a:t>여섯번째</a:t>
                </a:r>
                <a:r>
                  <a:rPr lang="ko-KR" altLang="en-US" b="1" dirty="0"/>
                  <a:t> 샘플이 비슷하다</a:t>
                </a:r>
                <a:r>
                  <a:rPr lang="en-US" altLang="ko-KR" b="1" dirty="0"/>
                  <a:t>?</a:t>
                </a:r>
              </a:p>
              <a:p>
                <a:r>
                  <a:rPr lang="en-US" altLang="ko-KR" b="1" dirty="0"/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b="1" dirty="0"/>
                  <a:t> 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ko-KR" altLang="en-US" b="1" dirty="0"/>
                  <a:t> 이 비슷하다</a:t>
                </a:r>
                <a:r>
                  <a:rPr lang="en-US" altLang="ko-KR" b="1" dirty="0"/>
                  <a:t>!!! -&gt;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ko-KR" altLang="en-US" b="1" dirty="0"/>
                  <a:t> 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~,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ko-KR" altLang="en-US" b="1" dirty="0"/>
                  <a:t> 가 비슷하다</a:t>
                </a:r>
                <a:r>
                  <a:rPr lang="en-US" altLang="ko-KR" b="1" dirty="0"/>
                  <a:t>!!</a:t>
                </a:r>
              </a:p>
              <a:p>
                <a:endParaRPr lang="en-US" altLang="ko-KR" b="1" dirty="0"/>
              </a:p>
              <a:p>
                <a:r>
                  <a:rPr lang="ko-KR" altLang="en-US" b="1" dirty="0"/>
                  <a:t>그렇다면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/>
                  <a:t>크기는 무엇을 의미하는가</a:t>
                </a:r>
                <a:r>
                  <a:rPr lang="en-US" altLang="ko-KR" b="1" dirty="0"/>
                  <a:t>?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429" y="5337228"/>
                <a:ext cx="6024150" cy="1212511"/>
              </a:xfrm>
              <a:prstGeom prst="rect">
                <a:avLst/>
              </a:prstGeom>
              <a:blipFill>
                <a:blip r:embed="rId13"/>
                <a:stretch>
                  <a:fillRect l="-911" t="-4040"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59555" y="4397158"/>
                <a:ext cx="3121239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555" y="4397158"/>
                <a:ext cx="3121239" cy="38151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4183804" y="2686322"/>
                <a:ext cx="48340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04" y="2686322"/>
                <a:ext cx="483401" cy="28520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4183804" y="3008584"/>
                <a:ext cx="483401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04" y="3008584"/>
                <a:ext cx="483401" cy="2852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직사각형 41"/>
              <p:cNvSpPr/>
              <p:nvPr/>
            </p:nvSpPr>
            <p:spPr>
              <a:xfrm>
                <a:off x="7014552" y="3048528"/>
                <a:ext cx="455959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2" name="직사각형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552" y="3048528"/>
                <a:ext cx="455959" cy="2852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/>
          <p:cNvSpPr/>
          <p:nvPr/>
        </p:nvSpPr>
        <p:spPr>
          <a:xfrm>
            <a:off x="1082593" y="3008584"/>
            <a:ext cx="781368" cy="3251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872472" y="2597936"/>
            <a:ext cx="378268" cy="79568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6653346" y="2971528"/>
            <a:ext cx="378268" cy="3928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893458" y="4366229"/>
            <a:ext cx="3063416" cy="3928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566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정보를 어떻게 사용할까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8" y="1672329"/>
            <a:ext cx="6917979" cy="2123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8410" y="27740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11712" y="27773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222831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219188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62276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558633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1229779" y="4847119"/>
                <a:ext cx="3241977" cy="658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3,5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779" y="4847119"/>
                <a:ext cx="3241977" cy="658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933670" y="27751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13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520874" y="4855241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+1∗1=10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874" y="4855241"/>
                <a:ext cx="3241978" cy="658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304060" y="27740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509515" y="3972066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+1∗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515" y="3972066"/>
                <a:ext cx="3241978" cy="658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29778" y="3972066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778" y="3972066"/>
                <a:ext cx="3241978" cy="658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508400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504757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847845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844202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250602" y="2778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7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0992" y="27772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6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W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정보를 어떻게 사용할까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8" y="1672329"/>
            <a:ext cx="6917979" cy="2123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8410" y="27740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11712" y="27773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222831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219188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62276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558633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1214131" y="4809801"/>
                <a:ext cx="3241977" cy="658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,5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1" y="4809801"/>
                <a:ext cx="3241977" cy="658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933670" y="27751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505226" y="4817923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∗1=</m:t>
                      </m:r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226" y="4817923"/>
                <a:ext cx="3241978" cy="658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304060" y="27740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491958" y="4151287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958" y="4151287"/>
                <a:ext cx="3241978" cy="658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12221" y="4151287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221" y="4151287"/>
                <a:ext cx="3241978" cy="658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508400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504757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847845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844202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250602" y="2778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620992" y="27772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451039" y="31319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4341" y="31352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992976" y="3123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8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63366" y="31224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7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92890" y="31319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63280" y="313088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13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498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W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정보를 어떻게 사용할까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8" y="1672329"/>
            <a:ext cx="6917979" cy="2123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8410" y="27740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11712" y="27773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222831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219188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62276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558633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1214131" y="4809801"/>
                <a:ext cx="3241977" cy="658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2,5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,5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1" y="4809801"/>
                <a:ext cx="3241977" cy="658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933670" y="27751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505226" y="4817923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∗1=</m:t>
                      </m:r>
                      <m:r>
                        <a:rPr lang="en-US" altLang="ko-KR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226" y="4817923"/>
                <a:ext cx="3241978" cy="658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304060" y="27740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491958" y="4151287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958" y="4151287"/>
                <a:ext cx="3241978" cy="658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12221" y="4151287"/>
                <a:ext cx="3241978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221" y="4151287"/>
                <a:ext cx="3241978" cy="658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508400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504757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847845" y="2404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844202" y="2765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250602" y="2778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620992" y="27772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451039" y="31319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04341" y="31352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992976" y="3123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8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63366" y="31224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7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92890" y="31319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63280" y="313088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6A78804-58BA-A233-0474-7801B596631A}"/>
              </a:ext>
            </a:extLst>
          </p:cNvPr>
          <p:cNvSpPr/>
          <p:nvPr/>
        </p:nvSpPr>
        <p:spPr>
          <a:xfrm>
            <a:off x="1336876" y="2774066"/>
            <a:ext cx="527085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55BDFA4-98DB-C5CB-06FF-7AA12508CEBB}"/>
              </a:ext>
            </a:extLst>
          </p:cNvPr>
          <p:cNvSpPr/>
          <p:nvPr/>
        </p:nvSpPr>
        <p:spPr>
          <a:xfrm>
            <a:off x="1707266" y="3122484"/>
            <a:ext cx="527085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67B0279-7E7A-EB11-6C5F-282A6341DE32}"/>
              </a:ext>
            </a:extLst>
          </p:cNvPr>
          <p:cNvSpPr/>
          <p:nvPr/>
        </p:nvSpPr>
        <p:spPr>
          <a:xfrm>
            <a:off x="3469986" y="2774066"/>
            <a:ext cx="745559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B8844CA-402F-5F50-D1ED-FA6B78DC2639}"/>
              </a:ext>
            </a:extLst>
          </p:cNvPr>
          <p:cNvSpPr/>
          <p:nvPr/>
        </p:nvSpPr>
        <p:spPr>
          <a:xfrm>
            <a:off x="4183647" y="2411050"/>
            <a:ext cx="745559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F9BFCC4-48E7-BDA1-BD5A-49F10A0D46A4}"/>
              </a:ext>
            </a:extLst>
          </p:cNvPr>
          <p:cNvSpPr/>
          <p:nvPr/>
        </p:nvSpPr>
        <p:spPr>
          <a:xfrm>
            <a:off x="6230247" y="3152578"/>
            <a:ext cx="745559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E61BD9C-E26E-38EF-83A6-5DE975E1A331}"/>
              </a:ext>
            </a:extLst>
          </p:cNvPr>
          <p:cNvSpPr/>
          <p:nvPr/>
        </p:nvSpPr>
        <p:spPr>
          <a:xfrm>
            <a:off x="6948178" y="2760499"/>
            <a:ext cx="745559" cy="369332"/>
          </a:xfrm>
          <a:prstGeom prst="ellipse">
            <a:avLst/>
          </a:prstGeom>
          <a:solidFill>
            <a:srgbClr val="FF0000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4C71D9-111F-F1AD-6410-902E6434D66B}"/>
              </a:ext>
            </a:extLst>
          </p:cNvPr>
          <p:cNvCxnSpPr/>
          <p:nvPr/>
        </p:nvCxnSpPr>
        <p:spPr>
          <a:xfrm flipH="1">
            <a:off x="827590" y="3049929"/>
            <a:ext cx="509286" cy="265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CBDA98-1DEA-2934-CC3E-0D1C7E631982}"/>
              </a:ext>
            </a:extLst>
          </p:cNvPr>
          <p:cNvSpPr txBox="1"/>
          <p:nvPr/>
        </p:nvSpPr>
        <p:spPr>
          <a:xfrm>
            <a:off x="76366" y="3286939"/>
            <a:ext cx="124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metagene1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672064-0D10-2412-4366-107B6F14EB7D}"/>
              </a:ext>
            </a:extLst>
          </p:cNvPr>
          <p:cNvSpPr txBox="1"/>
          <p:nvPr/>
        </p:nvSpPr>
        <p:spPr>
          <a:xfrm>
            <a:off x="2137383" y="3652239"/>
            <a:ext cx="124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metagene2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B0CD493-E240-E1F7-2934-5497D5EE15AD}"/>
              </a:ext>
            </a:extLst>
          </p:cNvPr>
          <p:cNvCxnSpPr>
            <a:cxnSpLocks/>
          </p:cNvCxnSpPr>
          <p:nvPr/>
        </p:nvCxnSpPr>
        <p:spPr>
          <a:xfrm>
            <a:off x="2174731" y="3481491"/>
            <a:ext cx="392653" cy="224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2DB1D5D-FF1B-27D4-478F-A4C1227CBA26}"/>
              </a:ext>
            </a:extLst>
          </p:cNvPr>
          <p:cNvCxnSpPr>
            <a:cxnSpLocks/>
          </p:cNvCxnSpPr>
          <p:nvPr/>
        </p:nvCxnSpPr>
        <p:spPr>
          <a:xfrm>
            <a:off x="3709686" y="3152578"/>
            <a:ext cx="285359" cy="403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305D451-9C22-7C0C-2151-2312C1001595}"/>
              </a:ext>
            </a:extLst>
          </p:cNvPr>
          <p:cNvSpPr txBox="1"/>
          <p:nvPr/>
        </p:nvSpPr>
        <p:spPr>
          <a:xfrm>
            <a:off x="3655600" y="3515679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Group 2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5B3396-5EF3-1C77-3C35-98F53A21F773}"/>
              </a:ext>
            </a:extLst>
          </p:cNvPr>
          <p:cNvSpPr txBox="1"/>
          <p:nvPr/>
        </p:nvSpPr>
        <p:spPr>
          <a:xfrm>
            <a:off x="4020771" y="1746874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Group 1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8B071FC-8FE1-A848-962F-C6C94FCD7B47}"/>
              </a:ext>
            </a:extLst>
          </p:cNvPr>
          <p:cNvCxnSpPr>
            <a:cxnSpLocks/>
            <a:endCxn id="51" idx="2"/>
          </p:cNvCxnSpPr>
          <p:nvPr/>
        </p:nvCxnSpPr>
        <p:spPr>
          <a:xfrm flipH="1" flipV="1">
            <a:off x="4491958" y="2116206"/>
            <a:ext cx="28916" cy="257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152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19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27" y="2429070"/>
            <a:ext cx="7886700" cy="416302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473837" y="1126453"/>
            <a:ext cx="801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X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 데이터 매트릭스를 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유전자를 나타내는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유전자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X (N)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매트릭스와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(N)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X 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매트릭스로 행렬 분해할 수 있다면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955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행렬 정보를 어떻게 사용할까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27" y="1630694"/>
            <a:ext cx="6283699" cy="2039815"/>
          </a:xfrm>
          <a:prstGeom prst="rect">
            <a:avLst/>
          </a:prstGeom>
        </p:spPr>
      </p:pic>
      <p:sp>
        <p:nvSpPr>
          <p:cNvPr id="4" name="아래쪽 화살표 3"/>
          <p:cNvSpPr/>
          <p:nvPr/>
        </p:nvSpPr>
        <p:spPr>
          <a:xfrm>
            <a:off x="3868767" y="4458356"/>
            <a:ext cx="567160" cy="21991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394870" y="2392110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012187" y="1728495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625645" y="3067300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256676" y="3067300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3879770" y="1728495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4498895" y="3059363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5129133" y="2388911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760958" y="3067300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372145" y="2388911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02700" y="2388911"/>
            <a:ext cx="489995" cy="478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509064" y="4876211"/>
            <a:ext cx="5940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ko-KR" dirty="0">
                <a:latin typeface="Menlo"/>
              </a:rPr>
              <a:t>2 1 3 3 1 3 2 3 2 2</a:t>
            </a:r>
            <a:endParaRPr lang="en-US" altLang="ko-KR" b="0" i="0" dirty="0">
              <a:effectLst/>
              <a:latin typeface="Menlo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348" y="3997853"/>
            <a:ext cx="2300782" cy="4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3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0" name="직사각형 19"/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Connectivity Matrix</a:t>
            </a:r>
            <a:endParaRPr lang="ko-KR" altLang="en-US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96950" y="1696135"/>
            <a:ext cx="6457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클러스터가 결정되면</a:t>
            </a:r>
            <a:r>
              <a:rPr lang="en-US" altLang="ko-KR" dirty="0"/>
              <a:t>, </a:t>
            </a:r>
            <a:r>
              <a:rPr lang="ko-KR" altLang="en-US" b="1" dirty="0"/>
              <a:t>연결 행렬 </a:t>
            </a:r>
            <a:r>
              <a:rPr lang="en-US" altLang="ko-KR" b="1" dirty="0"/>
              <a:t>Connectivity Matrix) </a:t>
            </a:r>
            <a:r>
              <a:rPr lang="ko-KR" altLang="en-US" dirty="0"/>
              <a:t>을 만든다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2289951"/>
            <a:ext cx="1341595" cy="7698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0505" y="2335533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샘플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j </a:t>
            </a:r>
            <a:r>
              <a:rPr lang="ko-KR" altLang="en-US" dirty="0"/>
              <a:t>가 같은 </a:t>
            </a:r>
            <a:r>
              <a:rPr lang="ko-KR" altLang="en-US" dirty="0" err="1"/>
              <a:t>클러스터면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510504" y="2633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다르면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57" y="3448723"/>
            <a:ext cx="3094930" cy="275216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501" y="3447695"/>
            <a:ext cx="2988166" cy="27531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/>
              <p:cNvSpPr/>
              <p:nvPr/>
            </p:nvSpPr>
            <p:spPr>
              <a:xfrm>
                <a:off x="789081" y="3056049"/>
                <a:ext cx="576055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81" y="3056049"/>
                <a:ext cx="576055" cy="391646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오른쪽 화살표 24"/>
          <p:cNvSpPr/>
          <p:nvPr/>
        </p:nvSpPr>
        <p:spPr>
          <a:xfrm>
            <a:off x="4455160" y="4658360"/>
            <a:ext cx="426720" cy="5232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5351501" y="3067206"/>
            <a:ext cx="29881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ko-KR" dirty="0"/>
              <a:t>2 5 1 7 9 10 3 4 6 8</a:t>
            </a:r>
          </a:p>
        </p:txBody>
      </p:sp>
      <p:sp>
        <p:nvSpPr>
          <p:cNvPr id="37" name="직사각형 36"/>
          <p:cNvSpPr/>
          <p:nvPr/>
        </p:nvSpPr>
        <p:spPr>
          <a:xfrm rot="16200000">
            <a:off x="3838307" y="4639626"/>
            <a:ext cx="2753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ko-KR" dirty="0"/>
              <a:t>8 6 4 3 10 9 7 1 5 2</a:t>
            </a:r>
          </a:p>
        </p:txBody>
      </p:sp>
    </p:spTree>
    <p:extLst>
      <p:ext uri="{BB962C8B-B14F-4D97-AF65-F5344CB8AC3E}">
        <p14:creationId xmlns:p14="http://schemas.microsoft.com/office/powerpoint/2010/main" val="140821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9374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NMF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2" name="Image 0">
            <a:extLst>
              <a:ext uri="{FF2B5EF4-FFF2-40B4-BE49-F238E27FC236}">
                <a16:creationId xmlns:a16="http://schemas.microsoft.com/office/drawing/2014/main" id="{9AA93734-F6B1-171E-7926-EF8FCD326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657" y="1656073"/>
            <a:ext cx="3452685" cy="2346547"/>
          </a:xfrm>
          <a:prstGeom prst="rect">
            <a:avLst/>
          </a:prstGeom>
        </p:spPr>
      </p:pic>
      <p:pic>
        <p:nvPicPr>
          <p:cNvPr id="3" name="Image 1">
            <a:extLst>
              <a:ext uri="{FF2B5EF4-FFF2-40B4-BE49-F238E27FC236}">
                <a16:creationId xmlns:a16="http://schemas.microsoft.com/office/drawing/2014/main" id="{6EA888EE-4DC8-6915-2740-EDD5547AA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603" y="4228862"/>
            <a:ext cx="6553654" cy="211408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45B4CB8-33AA-EA8A-EB72-F3940CC896F7}"/>
              </a:ext>
            </a:extLst>
          </p:cNvPr>
          <p:cNvSpPr/>
          <p:nvPr/>
        </p:nvSpPr>
        <p:spPr>
          <a:xfrm>
            <a:off x="473837" y="1126453"/>
            <a:ext cx="801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cluster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k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고르기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: consensus + cophenetic</a:t>
            </a:r>
          </a:p>
        </p:txBody>
      </p:sp>
    </p:spTree>
    <p:extLst>
      <p:ext uri="{BB962C8B-B14F-4D97-AF65-F5344CB8AC3E}">
        <p14:creationId xmlns:p14="http://schemas.microsoft.com/office/powerpoint/2010/main" val="2213872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36376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Clustering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5" name="TextBox 4"/>
          <p:cNvSpPr txBox="1"/>
          <p:nvPr/>
        </p:nvSpPr>
        <p:spPr>
          <a:xfrm>
            <a:off x="386360" y="11778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327850"/>
      </p:ext>
    </p:extLst>
  </p:cSld>
  <p:clrMapOvr>
    <a:masterClrMapping/>
  </p:clrMapOvr>
</p:sld>
</file>

<file path=ppt/theme/theme1.xml><?xml version="1.0" encoding="utf-8"?>
<a:theme xmlns:a="http://schemas.openxmlformats.org/drawingml/2006/main" name="4대3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대3" id="{DE922B34-5394-40FA-8C04-727DB2997E68}" vid="{1394AAAF-BB04-4B76-B954-A4B3B982A1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10536</TotalTime>
  <Words>761</Words>
  <Application>Microsoft Office PowerPoint</Application>
  <PresentationFormat>화면 슬라이드 쇼(4:3)</PresentationFormat>
  <Paragraphs>179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KoPub돋움체 Bold</vt:lpstr>
      <vt:lpstr>KoPub돋움체 Medium</vt:lpstr>
      <vt:lpstr>Menlo</vt:lpstr>
      <vt:lpstr>맑은 고딕</vt:lpstr>
      <vt:lpstr>Arial</vt:lpstr>
      <vt:lpstr>Calibri</vt:lpstr>
      <vt:lpstr>Calibri Light</vt:lpstr>
      <vt:lpstr>Cambria Math</vt:lpstr>
      <vt:lpstr>Courier New</vt:lpstr>
      <vt:lpstr>4대3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RNA-seq 활용</dc:title>
  <dc:creator>김종환</dc:creator>
  <cp:lastModifiedBy>KOBIC</cp:lastModifiedBy>
  <cp:revision>1343</cp:revision>
  <dcterms:created xsi:type="dcterms:W3CDTF">2019-05-02T12:54:58Z</dcterms:created>
  <dcterms:modified xsi:type="dcterms:W3CDTF">2026-06-21T12:13:41Z</dcterms:modified>
</cp:coreProperties>
</file>